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1F4E79"/>
                </a:solidFill>
                <a:latin typeface="Arial"/>
              </a:rPr>
              <a:t>Term Project Proposal: Dungeon Game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2000" b="0">
                <a:solidFill>
                  <a:srgbClr val="282828"/>
                </a:solidFill>
                <a:latin typeface="Arial"/>
              </a:rPr>
              <a:t>CSX3009 | LeetCode 174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b="1" sz="2200">
                <a:solidFill>
                  <a:srgbClr val="1F4E79"/>
                </a:solidFill>
              </a:defRPr>
            </a:pPr>
            <a:r>
              <a:t>Team Members</a:t>
            </a:r>
          </a:p>
          <a:p>
            <a:pPr lvl="1"/>
            <a:r>
              <a:rPr sz="1800" b="0">
                <a:solidFill>
                  <a:srgbClr val="282828"/>
                </a:solidFill>
                <a:latin typeface="Arial"/>
              </a:rPr>
              <a:t>Puran Paodensakul 6611140</a:t>
            </a:r>
          </a:p>
          <a:p>
            <a:pPr lvl="1"/>
            <a:r>
              <a:rPr sz="1800" b="0">
                <a:solidFill>
                  <a:srgbClr val="282828"/>
                </a:solidFill>
                <a:latin typeface="Arial"/>
              </a:rPr>
              <a:t>ANUSON KHWANSAKUN 6610789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FFFFFF"/>
                </a:solidFill>
                <a:latin typeface="Arial"/>
              </a:rPr>
              <a:t>Problem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000"/>
              </a:spcBef>
            </a:pPr>
            <a:r>
              <a:rPr sz="2000" b="0">
                <a:solidFill>
                  <a:srgbClr val="282828"/>
                </a:solidFill>
                <a:latin typeface="Arial"/>
              </a:rPr>
              <a:t>The dungeon is represented as a 2D grid.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282828"/>
                </a:solidFill>
                <a:latin typeface="Arial"/>
              </a:rPr>
              <a:t>Each cell contains positive or negative health values.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282828"/>
                </a:solidFill>
                <a:latin typeface="Arial"/>
              </a:rPr>
              <a:t>The knight starts at the top-left cell.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282828"/>
                </a:solidFill>
                <a:latin typeface="Arial"/>
              </a:rPr>
              <a:t>The knight can move only right or down.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282828"/>
                </a:solidFill>
                <a:latin typeface="Arial"/>
              </a:rPr>
              <a:t>The goal is to reach the bottom-right cell.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282828"/>
                </a:solidFill>
                <a:latin typeface="Arial"/>
              </a:rPr>
              <a:t>The knight dies if health becomes 0 or less.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/>
          <a:p>
            <a:r>
              <a:rPr sz="2000" b="1">
                <a:solidFill>
                  <a:srgbClr val="282828"/>
                </a:solidFill>
                <a:latin typeface="Arial"/>
              </a:rPr>
              <a:t>Objective: Find the minimum initial health required to guarantee survival.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FFFFFF"/>
                </a:solidFill>
                <a:latin typeface="Arial"/>
              </a:rPr>
              <a:t>Input / Output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200" b="1">
                <a:solidFill>
                  <a:srgbClr val="282828"/>
                </a:solidFill>
                <a:latin typeface="Arial"/>
              </a:rPr>
              <a:t>Input:</a:t>
            </a:r>
          </a:p>
          <a:p>
            <a:r>
              <a:rPr sz="1800" b="0">
                <a:solidFill>
                  <a:srgbClr val="282828"/>
                </a:solidFill>
                <a:latin typeface="Arial"/>
              </a:rPr>
              <a:t>A 2D integer array dungeon[m][n]</a:t>
            </a:r>
          </a:p>
          <a:p>
            <a:pPr>
              <a:spcBef>
                <a:spcPts val="2000"/>
              </a:spcBef>
            </a:pPr>
            <a:r>
              <a:rPr sz="2200" b="1">
                <a:solidFill>
                  <a:srgbClr val="282828"/>
                </a:solidFill>
                <a:latin typeface="Arial"/>
              </a:rPr>
              <a:t>Output:</a:t>
            </a:r>
          </a:p>
          <a:p>
            <a:r>
              <a:rPr sz="1800" b="0">
                <a:solidFill>
                  <a:srgbClr val="282828"/>
                </a:solidFill>
                <a:latin typeface="Arial"/>
              </a:rPr>
              <a:t>A single integer: Minimum initial health.</a:t>
            </a:r>
          </a:p>
          <a:p>
            <a:pPr>
              <a:spcBef>
                <a:spcPts val="4000"/>
              </a:spcBef>
            </a:pPr>
            <a:r>
              <a:rPr sz="2200" b="1">
                <a:solidFill>
                  <a:srgbClr val="282828"/>
                </a:solidFill>
                <a:latin typeface="Arial"/>
              </a:rPr>
              <a:t>Example Output:</a:t>
            </a:r>
          </a:p>
          <a:p>
            <a:r>
              <a:rPr sz="4800" b="1">
                <a:solidFill>
                  <a:srgbClr val="1F4E79"/>
                </a:solidFill>
                <a:latin typeface="Arial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828800"/>
            <a:ext cx="731520" cy="731520"/>
          </a:xfrm>
          <a:prstGeom prst="rect">
            <a:avLst/>
          </a:prstGeom>
          <a:solidFill>
            <a:srgbClr val="C8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/>
          </a:p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-2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0" y="1828800"/>
            <a:ext cx="731520" cy="731520"/>
          </a:xfrm>
          <a:prstGeom prst="rect">
            <a:avLst/>
          </a:prstGeom>
          <a:solidFill>
            <a:srgbClr val="C8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/>
          </a:p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-3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828800"/>
            <a:ext cx="731520" cy="731520"/>
          </a:xfrm>
          <a:prstGeom prst="rect">
            <a:avLst/>
          </a:prstGeom>
          <a:solidFill>
            <a:srgbClr val="32A0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/>
          </a:p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2651760"/>
            <a:ext cx="731520" cy="731520"/>
          </a:xfrm>
          <a:prstGeom prst="rect">
            <a:avLst/>
          </a:prstGeom>
          <a:solidFill>
            <a:srgbClr val="C8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/>
          </a:p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-5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2651760"/>
            <a:ext cx="731520" cy="731520"/>
          </a:xfrm>
          <a:prstGeom prst="rect">
            <a:avLst/>
          </a:prstGeom>
          <a:solidFill>
            <a:srgbClr val="C8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/>
          </a:p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-10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2651760"/>
            <a:ext cx="731520" cy="731520"/>
          </a:xfrm>
          <a:prstGeom prst="rect">
            <a:avLst/>
          </a:prstGeom>
          <a:solidFill>
            <a:srgbClr val="32A0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/>
          </a:p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3474720"/>
            <a:ext cx="731520" cy="731520"/>
          </a:xfrm>
          <a:prstGeom prst="rect">
            <a:avLst/>
          </a:prstGeom>
          <a:solidFill>
            <a:srgbClr val="32A0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/>
          </a:p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3474720"/>
            <a:ext cx="731520" cy="731520"/>
          </a:xfrm>
          <a:prstGeom prst="rect">
            <a:avLst/>
          </a:prstGeom>
          <a:solidFill>
            <a:srgbClr val="32A0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/>
          </a:p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3474720"/>
            <a:ext cx="731520" cy="731520"/>
          </a:xfrm>
          <a:prstGeom prst="rect">
            <a:avLst/>
          </a:prstGeom>
          <a:solidFill>
            <a:srgbClr val="C8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/>
          </a:p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-5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1">
                <a:solidFill>
                  <a:srgbClr val="FFFFFF"/>
                </a:solidFill>
                <a:latin typeface="Arial"/>
              </a:rPr>
              <a:t>Proposed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200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sz="2000" b="1">
                <a:solidFill>
                  <a:srgbClr val="1F4E79"/>
                </a:solidFill>
                <a:latin typeface="Arial"/>
              </a:rPr>
              <a:t>Dynamic Programming (Bottom-Up)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282828"/>
                </a:solidFill>
                <a:latin typeface="Arial"/>
              </a:rPr>
              <a:t>Create DP table dp[m][n]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282828"/>
                </a:solidFill>
                <a:latin typeface="Arial"/>
              </a:rPr>
              <a:t>dp[i][j] stores min health to enter cell (i, j)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282828"/>
                </a:solidFill>
                <a:latin typeface="Arial"/>
              </a:rPr>
              <a:t>Start from bottom-right cell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282828"/>
                </a:solidFill>
                <a:latin typeface="Arial"/>
              </a:rPr>
              <a:t>Calculate min health required from next moves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282828"/>
                </a:solidFill>
                <a:latin typeface="Arial"/>
              </a:rPr>
              <a:t>Ensure health is at least 1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282828"/>
                </a:solidFill>
                <a:latin typeface="Arial"/>
              </a:rPr>
              <a:t>Final answer: dp[0][0]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371600"/>
            <a:ext cx="4572000" cy="457200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</a:pPr>
            <a:r>
              <a:rPr sz="1400" b="0">
                <a:solidFill>
                  <a:srgbClr val="282828"/>
                </a:solidFill>
                <a:latin typeface="Courier New"/>
              </a:rPr>
              <a:t>for each cell (i,j) from end: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282828"/>
                </a:solidFill>
                <a:latin typeface="Courier New"/>
              </a:rPr>
              <a:t>  need = min(dp[i+1][j], 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282828"/>
                </a:solidFill>
                <a:latin typeface="Courier New"/>
              </a:rPr>
              <a:t>            dp[i][j+1])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282828"/>
                </a:solidFill>
                <a:latin typeface="Courier New"/>
              </a:rPr>
              <a:t>  dp[i][j] = max(1, 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282828"/>
                </a:solidFill>
                <a:latin typeface="Courier New"/>
              </a:rPr>
              <a:t>             need - dungeon[i][j])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