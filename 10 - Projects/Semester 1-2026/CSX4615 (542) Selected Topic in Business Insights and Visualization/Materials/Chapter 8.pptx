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7032ce45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7032ce45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7032ce458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7032ce458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7032ce458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7032ce458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7032ce458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7032ce458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7032ce458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7032ce458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7032ce458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7032ce458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7032ce458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7032ce458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Chapter 8</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Architecture Design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Before you start **</a:t>
            </a:r>
            <a:endParaRPr/>
          </a:p>
        </p:txBody>
      </p:sp>
      <p:sp>
        <p:nvSpPr>
          <p:cNvPr id="61" name="Google Shape;61;p14"/>
          <p:cNvSpPr txBox="1"/>
          <p:nvPr>
            <p:ph idx="1" type="body"/>
          </p:nvPr>
        </p:nvSpPr>
        <p:spPr>
          <a:xfrm>
            <a:off x="311700" y="1152475"/>
            <a:ext cx="8520600" cy="38913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Computing Architecture is all about the big picture. </a:t>
            </a:r>
            <a:endParaRPr/>
          </a:p>
          <a:p>
            <a:pPr indent="-342900" lvl="0" marL="457200" rtl="0" algn="l">
              <a:lnSpc>
                <a:spcPct val="150000"/>
              </a:lnSpc>
              <a:spcBef>
                <a:spcPts val="0"/>
              </a:spcBef>
              <a:spcAft>
                <a:spcPts val="0"/>
              </a:spcAft>
              <a:buSzPts val="1800"/>
              <a:buChar char="●"/>
            </a:pPr>
            <a:r>
              <a:rPr lang="en"/>
              <a:t>Most of the project failed and/or </a:t>
            </a:r>
            <a:r>
              <a:rPr lang="en"/>
              <a:t>over budgeted</a:t>
            </a:r>
            <a:r>
              <a:rPr lang="en"/>
              <a:t> </a:t>
            </a:r>
            <a:r>
              <a:rPr lang="en"/>
              <a:t>because</a:t>
            </a:r>
            <a:r>
              <a:rPr lang="en"/>
              <a:t> the system developer did not include all the components. </a:t>
            </a:r>
            <a:endParaRPr/>
          </a:p>
          <a:p>
            <a:pPr indent="-342900" lvl="0" marL="457200" rtl="0" algn="l">
              <a:lnSpc>
                <a:spcPct val="150000"/>
              </a:lnSpc>
              <a:spcBef>
                <a:spcPts val="0"/>
              </a:spcBef>
              <a:spcAft>
                <a:spcPts val="0"/>
              </a:spcAft>
              <a:buSzPts val="1800"/>
              <a:buChar char="●"/>
            </a:pPr>
            <a:r>
              <a:rPr lang="en"/>
              <a:t>“marketing campaign”, “advertisement” may affect your decision making.</a:t>
            </a:r>
            <a:endParaRPr/>
          </a:p>
          <a:p>
            <a:pPr indent="-342900" lvl="0" marL="457200" rtl="0" algn="l">
              <a:lnSpc>
                <a:spcPct val="150000"/>
              </a:lnSpc>
              <a:spcBef>
                <a:spcPts val="0"/>
              </a:spcBef>
              <a:spcAft>
                <a:spcPts val="0"/>
              </a:spcAft>
              <a:buSzPts val="1800"/>
              <a:buChar char="●"/>
            </a:pPr>
            <a:r>
              <a:rPr lang="en"/>
              <a:t>In 2010s, Google and Microsoft offer </a:t>
            </a:r>
            <a:r>
              <a:rPr lang="en"/>
              <a:t>ridiculous</a:t>
            </a:r>
            <a:r>
              <a:rPr lang="en"/>
              <a:t> low price for cloud storage (one ordinary individual can afford 10-20 TB). Some companies depend on these services. Later on, when Google and Microsoft charge reasonable price. They need to close the business. </a:t>
            </a:r>
            <a:endParaRPr/>
          </a:p>
          <a:p>
            <a:pPr indent="-342900" lvl="0" marL="457200" rtl="0" algn="l">
              <a:lnSpc>
                <a:spcPct val="150000"/>
              </a:lnSpc>
              <a:spcBef>
                <a:spcPts val="0"/>
              </a:spcBef>
              <a:spcAft>
                <a:spcPts val="0"/>
              </a:spcAft>
              <a:buSzPts val="1800"/>
              <a:buChar char="●"/>
            </a:pPr>
            <a:r>
              <a:rPr lang="en"/>
              <a:t>Today, AI services charge users lower than their cost.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Elements of Architecture Design</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lnSpc>
                <a:spcPct val="150000"/>
              </a:lnSpc>
              <a:spcBef>
                <a:spcPts val="0"/>
              </a:spcBef>
              <a:spcAft>
                <a:spcPts val="0"/>
              </a:spcAft>
              <a:buNone/>
            </a:pPr>
            <a:r>
              <a:rPr lang="en"/>
              <a:t>Architecture components (HW and SW)</a:t>
            </a:r>
            <a:endParaRPr/>
          </a:p>
          <a:p>
            <a:pPr indent="0" lvl="0" marL="0" rtl="0" algn="l">
              <a:lnSpc>
                <a:spcPct val="150000"/>
              </a:lnSpc>
              <a:spcBef>
                <a:spcPts val="1200"/>
              </a:spcBef>
              <a:spcAft>
                <a:spcPts val="0"/>
              </a:spcAft>
              <a:buNone/>
            </a:pPr>
            <a:r>
              <a:rPr lang="en"/>
              <a:t>Client-Server (Figure 8-1) Page 283</a:t>
            </a:r>
            <a:endParaRPr/>
          </a:p>
          <a:p>
            <a:pPr indent="0" lvl="0" marL="0" rtl="0" algn="l">
              <a:lnSpc>
                <a:spcPct val="150000"/>
              </a:lnSpc>
              <a:spcBef>
                <a:spcPts val="1200"/>
              </a:spcBef>
              <a:spcAft>
                <a:spcPts val="0"/>
              </a:spcAft>
              <a:buNone/>
            </a:pPr>
            <a:r>
              <a:rPr lang="en"/>
              <a:t>Terms: fat-client, thin-client, scalable, middleware (e.g. JDBC)</a:t>
            </a:r>
            <a:endParaRPr/>
          </a:p>
          <a:p>
            <a:pPr indent="0" lvl="0" marL="0" rtl="0" algn="l">
              <a:lnSpc>
                <a:spcPct val="150000"/>
              </a:lnSpc>
              <a:spcBef>
                <a:spcPts val="1200"/>
              </a:spcBef>
              <a:spcAft>
                <a:spcPts val="0"/>
              </a:spcAft>
              <a:buNone/>
            </a:pPr>
            <a:r>
              <a:rPr lang="en"/>
              <a:t>Client-Server tiers (Figure 8-2, 8-4, 8-5)</a:t>
            </a:r>
            <a:endParaRPr/>
          </a:p>
          <a:p>
            <a:pPr indent="0" lvl="0" marL="0" rtl="0" algn="l">
              <a:lnSpc>
                <a:spcPct val="150000"/>
              </a:lnSpc>
              <a:spcBef>
                <a:spcPts val="1200"/>
              </a:spcBef>
              <a:spcAft>
                <a:spcPts val="0"/>
              </a:spcAft>
              <a:buNone/>
            </a:pPr>
            <a:r>
              <a:t/>
            </a:r>
            <a:endParaRPr/>
          </a:p>
          <a:p>
            <a:pPr indent="0" lvl="0" marL="0" rtl="0" algn="l">
              <a:lnSpc>
                <a:spcPct val="150000"/>
              </a:lnSpc>
              <a:spcBef>
                <a:spcPts val="1200"/>
              </a:spcBef>
              <a:spcAft>
                <a:spcPts val="0"/>
              </a:spcAft>
              <a:buNone/>
            </a:pPr>
            <a:r>
              <a:t/>
            </a:r>
            <a:endParaRPr/>
          </a:p>
          <a:p>
            <a:pPr indent="0" lvl="0" marL="0" rtl="0" algn="l">
              <a:lnSpc>
                <a:spcPct val="150000"/>
              </a:lnSpc>
              <a:spcBef>
                <a:spcPts val="1200"/>
              </a:spcBef>
              <a:spcAft>
                <a:spcPts val="1200"/>
              </a:spcAft>
              <a:buNone/>
            </a:pPr>
            <a:r>
              <a:rPr lang="en"/>
              <a:t>Page 282 - 290</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Advance configuration</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Virtualization</a:t>
            </a:r>
            <a:endParaRPr/>
          </a:p>
          <a:p>
            <a:pPr indent="-342900" lvl="0" marL="457200" rtl="0" algn="l">
              <a:lnSpc>
                <a:spcPct val="150000"/>
              </a:lnSpc>
              <a:spcBef>
                <a:spcPts val="0"/>
              </a:spcBef>
              <a:spcAft>
                <a:spcPts val="0"/>
              </a:spcAft>
              <a:buSzPts val="1800"/>
              <a:buChar char="●"/>
            </a:pPr>
            <a:r>
              <a:rPr lang="en"/>
              <a:t>Cloud computing</a:t>
            </a:r>
            <a:endParaRPr/>
          </a:p>
          <a:p>
            <a:pPr indent="0" lvl="0" marL="457200" rtl="0" algn="l">
              <a:lnSpc>
                <a:spcPct val="150000"/>
              </a:lnSpc>
              <a:spcBef>
                <a:spcPts val="1200"/>
              </a:spcBef>
              <a:spcAft>
                <a:spcPts val="0"/>
              </a:spcAft>
              <a:buNone/>
            </a:pPr>
            <a:r>
              <a:t/>
            </a:r>
            <a:endParaRPr/>
          </a:p>
          <a:p>
            <a:pPr indent="0" lvl="0" marL="0" rtl="0" algn="l">
              <a:lnSpc>
                <a:spcPct val="150000"/>
              </a:lnSpc>
              <a:spcBef>
                <a:spcPts val="1200"/>
              </a:spcBef>
              <a:spcAft>
                <a:spcPts val="0"/>
              </a:spcAft>
              <a:buNone/>
            </a:pPr>
            <a:r>
              <a:rPr lang="en"/>
              <a:t>To select the “right” architecture, you need to balance the </a:t>
            </a:r>
            <a:r>
              <a:rPr b="1" lang="en"/>
              <a:t>technology </a:t>
            </a:r>
            <a:r>
              <a:rPr lang="en"/>
              <a:t>and </a:t>
            </a:r>
            <a:r>
              <a:rPr b="1" lang="en"/>
              <a:t>economic </a:t>
            </a:r>
            <a:r>
              <a:rPr lang="en"/>
              <a:t>features.</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Creating Architecture Design</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a:t>Consider</a:t>
            </a:r>
            <a:r>
              <a:rPr lang="en"/>
              <a:t>:</a:t>
            </a:r>
            <a:endParaRPr/>
          </a:p>
          <a:p>
            <a:pPr indent="0" lvl="0" marL="0" rtl="0" algn="l">
              <a:lnSpc>
                <a:spcPct val="150000"/>
              </a:lnSpc>
              <a:spcBef>
                <a:spcPts val="1200"/>
              </a:spcBef>
              <a:spcAft>
                <a:spcPts val="0"/>
              </a:spcAft>
              <a:buNone/>
            </a:pPr>
            <a:r>
              <a:rPr lang="en"/>
              <a:t>Operational requirements (Figure 8-6 Page 291)</a:t>
            </a:r>
            <a:endParaRPr/>
          </a:p>
          <a:p>
            <a:pPr indent="0" lvl="0" marL="0" rtl="0" algn="l">
              <a:lnSpc>
                <a:spcPct val="150000"/>
              </a:lnSpc>
              <a:spcBef>
                <a:spcPts val="1200"/>
              </a:spcBef>
              <a:spcAft>
                <a:spcPts val="0"/>
              </a:spcAft>
              <a:buNone/>
            </a:pPr>
            <a:r>
              <a:rPr lang="en"/>
              <a:t> Performance requirements (Figure 8-7 Page 293)</a:t>
            </a:r>
            <a:endParaRPr/>
          </a:p>
          <a:p>
            <a:pPr indent="0" lvl="0" marL="0" rtl="0" algn="l">
              <a:lnSpc>
                <a:spcPct val="150000"/>
              </a:lnSpc>
              <a:spcBef>
                <a:spcPts val="1200"/>
              </a:spcBef>
              <a:spcAft>
                <a:spcPts val="0"/>
              </a:spcAft>
              <a:buNone/>
            </a:pPr>
            <a:r>
              <a:rPr lang="en"/>
              <a:t>*** Security Requirements ** (Figure 8-8 Page 296 - it is recommended that you should hire the professional to do the design) </a:t>
            </a:r>
            <a:endParaRPr/>
          </a:p>
          <a:p>
            <a:pPr indent="0" lvl="0" marL="0" rtl="0" algn="l">
              <a:lnSpc>
                <a:spcPct val="150000"/>
              </a:lnSpc>
              <a:spcBef>
                <a:spcPts val="1200"/>
              </a:spcBef>
              <a:spcAft>
                <a:spcPts val="1200"/>
              </a:spcAft>
              <a:buNone/>
            </a:pPr>
            <a:r>
              <a:rPr lang="en"/>
              <a:t>** Do not save money on security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Cultural and Political requirements</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a:t>Figure 8-9 Page 300</a:t>
            </a:r>
            <a:endParaRPr/>
          </a:p>
          <a:p>
            <a:pPr indent="0" lvl="0" marL="0" rtl="0" algn="l">
              <a:lnSpc>
                <a:spcPct val="150000"/>
              </a:lnSpc>
              <a:spcBef>
                <a:spcPts val="1200"/>
              </a:spcBef>
              <a:spcAft>
                <a:spcPts val="0"/>
              </a:spcAft>
              <a:buNone/>
            </a:pPr>
            <a:r>
              <a:rPr lang="en"/>
              <a:t>Customization requirement *** Some principles are too </a:t>
            </a:r>
            <a:r>
              <a:rPr lang="en"/>
              <a:t>important</a:t>
            </a:r>
            <a:r>
              <a:rPr lang="en"/>
              <a:t> to alter, but you may see it in the market e.g. Stock manipulation is breaking the principle of accounting, but some ERP product allow the user to do it and create the solution in the back-end. It is </a:t>
            </a:r>
            <a:r>
              <a:rPr lang="en"/>
              <a:t>recommended</a:t>
            </a:r>
            <a:r>
              <a:rPr lang="en"/>
              <a:t> that you will never do it ***</a:t>
            </a:r>
            <a:endParaRPr/>
          </a:p>
          <a:p>
            <a:pPr indent="0" lvl="0" marL="0" rtl="0" algn="l">
              <a:lnSpc>
                <a:spcPct val="150000"/>
              </a:lnSpc>
              <a:spcBef>
                <a:spcPts val="1200"/>
              </a:spcBef>
              <a:spcAft>
                <a:spcPts val="0"/>
              </a:spcAft>
              <a:buNone/>
            </a:pPr>
            <a:r>
              <a:rPr lang="en"/>
              <a:t>Norm and Legal </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Diagram?</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a:t>There is no best-practice to draw the architecture diagram in the system design. You either apply the design from the familiar principles (database, network) or improvise it with your team members.</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Requirement summary and specifications</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Figure 8-10 Page 302</a:t>
            </a:r>
            <a:endParaRPr/>
          </a:p>
          <a:p>
            <a:pPr indent="0" lvl="0" marL="457200" rtl="0" algn="l">
              <a:lnSpc>
                <a:spcPct val="150000"/>
              </a:lnSpc>
              <a:spcBef>
                <a:spcPts val="1200"/>
              </a:spcBef>
              <a:spcAft>
                <a:spcPts val="0"/>
              </a:spcAft>
              <a:buNone/>
            </a:pPr>
            <a:r>
              <a:t/>
            </a:r>
            <a:endParaRPr/>
          </a:p>
          <a:p>
            <a:pPr indent="-342900" lvl="0" marL="457200" rtl="0" algn="l">
              <a:lnSpc>
                <a:spcPct val="150000"/>
              </a:lnSpc>
              <a:spcBef>
                <a:spcPts val="1200"/>
              </a:spcBef>
              <a:spcAft>
                <a:spcPts val="0"/>
              </a:spcAft>
              <a:buSzPts val="1800"/>
              <a:buChar char="●"/>
            </a:pPr>
            <a:r>
              <a:rPr lang="en"/>
              <a:t>Hardware and Software Specifications Figure 8-11, 8-12 - Page 304 - 305.</a:t>
            </a:r>
            <a:endParaRPr/>
          </a:p>
          <a:p>
            <a:pPr indent="0" lvl="0" marL="457200" rtl="0" algn="l">
              <a:lnSpc>
                <a:spcPct val="150000"/>
              </a:lnSpc>
              <a:spcBef>
                <a:spcPts val="1200"/>
              </a:spcBef>
              <a:spcAft>
                <a:spcPts val="0"/>
              </a:spcAft>
              <a:buNone/>
            </a:pPr>
            <a:r>
              <a:t/>
            </a:r>
            <a:endParaRPr/>
          </a:p>
          <a:p>
            <a:pPr indent="0" lvl="0" marL="0" rtl="0" algn="l">
              <a:lnSpc>
                <a:spcPct val="150000"/>
              </a:lnSpc>
              <a:spcBef>
                <a:spcPts val="1200"/>
              </a:spcBef>
              <a:spcAft>
                <a:spcPts val="1200"/>
              </a:spcAft>
              <a:buNone/>
            </a:pPr>
            <a:r>
              <a:rPr lang="en"/>
              <a:t>Do not forget the “End of Life” and other factor (business </a:t>
            </a:r>
            <a:r>
              <a:rPr lang="en"/>
              <a:t>stability</a:t>
            </a:r>
            <a:r>
              <a:rPr lang="en"/>
              <a:t>) while choosing the products.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