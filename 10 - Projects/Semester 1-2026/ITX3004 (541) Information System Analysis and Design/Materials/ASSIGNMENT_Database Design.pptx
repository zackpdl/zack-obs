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7a088e16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7a088e16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27a088e16b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27a088e16b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27a088e16b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27a088e16b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27a088e16b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27a088e16b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27a088e16b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27a088e16b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27a088e16b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27a088e16b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2a09057758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2a09057758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2a09057758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2a09057758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2a09057758_1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2a09057758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2a3608a9ec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2a3608a9ec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2c65938fe8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2c65938fe8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310f1b4a0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310f1b4a0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Database Design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117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Dhirachat Ch.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2/2024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Enterprise Database Schema Design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Objective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Business Operations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Schema Design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Business Objectives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College registration systems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Actor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Student (Enroll, Add and Delete)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Teacher (Teach)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Operations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 (Section enrolment)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Delete (Withdraw)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Query section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Summary report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Course + Section </a:t>
            </a:r>
            <a:r>
              <a:rPr lang="en"/>
              <a:t>Availability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Student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Teacher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Master Data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Course (</a:t>
            </a:r>
            <a:r>
              <a:rPr lang="en" u="sng"/>
              <a:t>Course ID</a:t>
            </a:r>
            <a:r>
              <a:rPr lang="en"/>
              <a:t>, Course Title, Credit)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Section (</a:t>
            </a:r>
            <a:r>
              <a:rPr lang="en" u="sng"/>
              <a:t>Course ID</a:t>
            </a:r>
            <a:r>
              <a:rPr lang="en"/>
              <a:t>, </a:t>
            </a:r>
            <a:r>
              <a:rPr lang="en" u="sng"/>
              <a:t>Section</a:t>
            </a:r>
            <a:r>
              <a:rPr lang="en"/>
              <a:t>, Room, Teacher ID, Seat, </a:t>
            </a:r>
            <a:r>
              <a:rPr lang="en" u="sng"/>
              <a:t>Semester</a:t>
            </a:r>
            <a:r>
              <a:rPr lang="en"/>
              <a:t>, </a:t>
            </a:r>
            <a:r>
              <a:rPr lang="en" u="sng"/>
              <a:t>Year</a:t>
            </a:r>
            <a:r>
              <a:rPr lang="en"/>
              <a:t>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Teacher (</a:t>
            </a:r>
            <a:r>
              <a:rPr lang="en" u="sng"/>
              <a:t>Teacher ID</a:t>
            </a:r>
            <a:r>
              <a:rPr lang="en"/>
              <a:t>, FName, LName, Office)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Student  (</a:t>
            </a:r>
            <a:r>
              <a:rPr lang="en" u="sng"/>
              <a:t>Student ID</a:t>
            </a:r>
            <a:r>
              <a:rPr lang="en"/>
              <a:t>, FName, LName, Faculty, Major)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br>
              <a:rPr lang="en"/>
            </a:br>
            <a:r>
              <a:rPr lang="en"/>
              <a:t>Assume that all initialization processes has been made.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CRUD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Transactions</a:t>
            </a:r>
            <a:endParaRPr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(You need to have </a:t>
            </a:r>
            <a:r>
              <a:rPr b="1" lang="en"/>
              <a:t>set of database </a:t>
            </a:r>
            <a:r>
              <a:rPr b="1" lang="en"/>
              <a:t>operations</a:t>
            </a:r>
            <a:r>
              <a:rPr lang="en"/>
              <a:t> to do it)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Enrolment (</a:t>
            </a:r>
            <a:r>
              <a:rPr lang="en" u="sng"/>
              <a:t>Enrolment ID</a:t>
            </a:r>
            <a:r>
              <a:rPr lang="en"/>
              <a:t>, </a:t>
            </a:r>
            <a:r>
              <a:rPr lang="en"/>
              <a:t>Course ID, Section, Student ID, Semester, Year)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Log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Add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(ID, Student ID, Enrolment ID)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Delete (VOID = 1)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(ID, Student ID, Enrolment ID)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Relationship Design</a:t>
            </a:r>
            <a:endParaRPr/>
          </a:p>
        </p:txBody>
      </p:sp>
      <p:sp>
        <p:nvSpPr>
          <p:cNvPr id="91" name="Google Shape;91;p19"/>
          <p:cNvSpPr/>
          <p:nvPr/>
        </p:nvSpPr>
        <p:spPr>
          <a:xfrm>
            <a:off x="620500" y="1592975"/>
            <a:ext cx="1644600" cy="463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Course</a:t>
            </a:r>
            <a:endParaRPr/>
          </a:p>
        </p:txBody>
      </p:sp>
      <p:sp>
        <p:nvSpPr>
          <p:cNvPr id="92" name="Google Shape;92;p19"/>
          <p:cNvSpPr/>
          <p:nvPr/>
        </p:nvSpPr>
        <p:spPr>
          <a:xfrm>
            <a:off x="620500" y="2897250"/>
            <a:ext cx="1644600" cy="463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Section</a:t>
            </a:r>
            <a:endParaRPr/>
          </a:p>
        </p:txBody>
      </p:sp>
      <p:sp>
        <p:nvSpPr>
          <p:cNvPr id="93" name="Google Shape;93;p19"/>
          <p:cNvSpPr/>
          <p:nvPr/>
        </p:nvSpPr>
        <p:spPr>
          <a:xfrm>
            <a:off x="620500" y="4201525"/>
            <a:ext cx="1644600" cy="463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Teacher</a:t>
            </a:r>
            <a:endParaRPr/>
          </a:p>
        </p:txBody>
      </p:sp>
      <p:sp>
        <p:nvSpPr>
          <p:cNvPr id="94" name="Google Shape;94;p19"/>
          <p:cNvSpPr/>
          <p:nvPr/>
        </p:nvSpPr>
        <p:spPr>
          <a:xfrm>
            <a:off x="3360800" y="4201525"/>
            <a:ext cx="1644600" cy="463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Student</a:t>
            </a:r>
            <a:endParaRPr/>
          </a:p>
        </p:txBody>
      </p:sp>
      <p:sp>
        <p:nvSpPr>
          <p:cNvPr id="95" name="Google Shape;95;p19"/>
          <p:cNvSpPr/>
          <p:nvPr/>
        </p:nvSpPr>
        <p:spPr>
          <a:xfrm>
            <a:off x="6022275" y="2224425"/>
            <a:ext cx="1644600" cy="463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</a:t>
            </a:r>
            <a:endParaRPr/>
          </a:p>
        </p:txBody>
      </p:sp>
      <p:sp>
        <p:nvSpPr>
          <p:cNvPr id="96" name="Google Shape;96;p19"/>
          <p:cNvSpPr/>
          <p:nvPr/>
        </p:nvSpPr>
        <p:spPr>
          <a:xfrm>
            <a:off x="3360800" y="2897250"/>
            <a:ext cx="1644600" cy="463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Enrolment</a:t>
            </a:r>
            <a:endParaRPr/>
          </a:p>
        </p:txBody>
      </p:sp>
      <p:sp>
        <p:nvSpPr>
          <p:cNvPr id="97" name="Google Shape;97;p19"/>
          <p:cNvSpPr/>
          <p:nvPr/>
        </p:nvSpPr>
        <p:spPr>
          <a:xfrm>
            <a:off x="6022275" y="3430800"/>
            <a:ext cx="1644600" cy="463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Delete</a:t>
            </a:r>
            <a:endParaRPr/>
          </a:p>
        </p:txBody>
      </p:sp>
      <p:cxnSp>
        <p:nvCxnSpPr>
          <p:cNvPr id="98" name="Google Shape;98;p19"/>
          <p:cNvCxnSpPr>
            <a:stCxn id="91" idx="2"/>
            <a:endCxn id="92" idx="0"/>
          </p:cNvCxnSpPr>
          <p:nvPr/>
        </p:nvCxnSpPr>
        <p:spPr>
          <a:xfrm>
            <a:off x="1442800" y="2056475"/>
            <a:ext cx="0" cy="840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" name="Google Shape;99;p19"/>
          <p:cNvCxnSpPr>
            <a:endCxn id="93" idx="0"/>
          </p:cNvCxnSpPr>
          <p:nvPr/>
        </p:nvCxnSpPr>
        <p:spPr>
          <a:xfrm>
            <a:off x="1442800" y="3360625"/>
            <a:ext cx="0" cy="840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0" name="Google Shape;100;p19"/>
          <p:cNvCxnSpPr>
            <a:endCxn id="96" idx="1"/>
          </p:cNvCxnSpPr>
          <p:nvPr/>
        </p:nvCxnSpPr>
        <p:spPr>
          <a:xfrm>
            <a:off x="2265200" y="3129000"/>
            <a:ext cx="109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1" name="Google Shape;101;p19"/>
          <p:cNvCxnSpPr>
            <a:stCxn id="96" idx="2"/>
            <a:endCxn id="94" idx="0"/>
          </p:cNvCxnSpPr>
          <p:nvPr/>
        </p:nvCxnSpPr>
        <p:spPr>
          <a:xfrm>
            <a:off x="4183100" y="3360750"/>
            <a:ext cx="0" cy="840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" name="Google Shape;102;p19"/>
          <p:cNvCxnSpPr>
            <a:stCxn id="96" idx="0"/>
            <a:endCxn id="95" idx="1"/>
          </p:cNvCxnSpPr>
          <p:nvPr/>
        </p:nvCxnSpPr>
        <p:spPr>
          <a:xfrm rot="-5400000">
            <a:off x="4882250" y="1757100"/>
            <a:ext cx="441000" cy="18393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3" name="Google Shape;103;p19"/>
          <p:cNvCxnSpPr>
            <a:stCxn id="96" idx="3"/>
            <a:endCxn id="97" idx="1"/>
          </p:cNvCxnSpPr>
          <p:nvPr/>
        </p:nvCxnSpPr>
        <p:spPr>
          <a:xfrm>
            <a:off x="5005400" y="3129000"/>
            <a:ext cx="1017000" cy="533700"/>
          </a:xfrm>
          <a:prstGeom prst="bentConnector3">
            <a:avLst>
              <a:gd fmla="val 49994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" name="Google Shape;104;p19"/>
          <p:cNvCxnSpPr>
            <a:stCxn id="95" idx="3"/>
            <a:endCxn id="94" idx="3"/>
          </p:cNvCxnSpPr>
          <p:nvPr/>
        </p:nvCxnSpPr>
        <p:spPr>
          <a:xfrm flipH="1">
            <a:off x="5005275" y="2456175"/>
            <a:ext cx="2661600" cy="1977000"/>
          </a:xfrm>
          <a:prstGeom prst="bentConnector3">
            <a:avLst>
              <a:gd fmla="val -8947" name="adj1"/>
            </a:avLst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05" name="Google Shape;105;p19"/>
          <p:cNvCxnSpPr>
            <a:stCxn id="97" idx="2"/>
            <a:endCxn id="94" idx="2"/>
          </p:cNvCxnSpPr>
          <p:nvPr/>
        </p:nvCxnSpPr>
        <p:spPr>
          <a:xfrm rot="5400000">
            <a:off x="5128425" y="2948850"/>
            <a:ext cx="770700" cy="2661600"/>
          </a:xfrm>
          <a:prstGeom prst="bentConnector3">
            <a:avLst>
              <a:gd fmla="val 130900" name="adj1"/>
            </a:avLst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Scenario - Add Time Slot</a:t>
            </a:r>
            <a:endParaRPr/>
          </a:p>
        </p:txBody>
      </p:sp>
      <p:sp>
        <p:nvSpPr>
          <p:cNvPr id="111" name="Google Shape;111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#1 Create Time Slot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TIME_SLOT (SLOT_ID,DAY,TIME)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#2 Create Slot_Section Table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SLOT_SECTION (SECTION PK + SLOT_ID)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(</a:t>
            </a:r>
            <a:r>
              <a:rPr lang="en" u="sng"/>
              <a:t>Course ID</a:t>
            </a:r>
            <a:r>
              <a:rPr lang="en"/>
              <a:t>, </a:t>
            </a:r>
            <a:r>
              <a:rPr lang="en" u="sng"/>
              <a:t>Section</a:t>
            </a:r>
            <a:r>
              <a:rPr lang="en"/>
              <a:t>,</a:t>
            </a:r>
            <a:r>
              <a:rPr lang="en" u="sng"/>
              <a:t>Semester</a:t>
            </a:r>
            <a:r>
              <a:rPr lang="en"/>
              <a:t>, </a:t>
            </a:r>
            <a:r>
              <a:rPr lang="en" u="sng"/>
              <a:t>Year,</a:t>
            </a:r>
            <a:r>
              <a:rPr lang="en"/>
              <a:t> </a:t>
            </a:r>
            <a:r>
              <a:rPr lang="en" u="sng"/>
              <a:t>SLOT_ID</a:t>
            </a:r>
            <a:r>
              <a:rPr lang="en"/>
              <a:t>)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</a:t>
            </a:r>
            <a:endParaRPr/>
          </a:p>
        </p:txBody>
      </p:sp>
      <p:sp>
        <p:nvSpPr>
          <p:cNvPr id="117" name="Google Shape;117;p21"/>
          <p:cNvSpPr txBox="1"/>
          <p:nvPr>
            <p:ph idx="1" type="body"/>
          </p:nvPr>
        </p:nvSpPr>
        <p:spPr>
          <a:xfrm>
            <a:off x="311700" y="1152475"/>
            <a:ext cx="8520600" cy="119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2 slots, 2 rooms</a:t>
            </a:r>
            <a:endParaRPr/>
          </a:p>
        </p:txBody>
      </p:sp>
      <p:sp>
        <p:nvSpPr>
          <p:cNvPr id="118" name="Google Shape;118;p21"/>
          <p:cNvSpPr txBox="1"/>
          <p:nvPr>
            <p:ph type="title"/>
          </p:nvPr>
        </p:nvSpPr>
        <p:spPr>
          <a:xfrm>
            <a:off x="277025" y="26445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Solution</a:t>
            </a:r>
            <a:endParaRPr/>
          </a:p>
        </p:txBody>
      </p:sp>
      <p:sp>
        <p:nvSpPr>
          <p:cNvPr id="119" name="Google Shape;119;p21"/>
          <p:cNvSpPr txBox="1"/>
          <p:nvPr>
            <p:ph idx="1" type="body"/>
          </p:nvPr>
        </p:nvSpPr>
        <p:spPr>
          <a:xfrm>
            <a:off x="306600" y="3366725"/>
            <a:ext cx="8520600" cy="119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Move “Room” fields to “Slot_Section”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SLOT_SECTION (</a:t>
            </a:r>
            <a:r>
              <a:rPr lang="en" u="sng"/>
              <a:t>Course ID</a:t>
            </a:r>
            <a:r>
              <a:rPr lang="en"/>
              <a:t>, </a:t>
            </a:r>
            <a:r>
              <a:rPr lang="en" u="sng"/>
              <a:t>Section</a:t>
            </a:r>
            <a:r>
              <a:rPr lang="en"/>
              <a:t>,</a:t>
            </a:r>
            <a:r>
              <a:rPr lang="en" u="sng"/>
              <a:t>Semester</a:t>
            </a:r>
            <a:r>
              <a:rPr lang="en"/>
              <a:t>, </a:t>
            </a:r>
            <a:r>
              <a:rPr lang="en" u="sng"/>
              <a:t>Year,</a:t>
            </a:r>
            <a:r>
              <a:rPr lang="en"/>
              <a:t>  </a:t>
            </a:r>
            <a:r>
              <a:rPr lang="en" u="sng"/>
              <a:t>SLOT_ID,</a:t>
            </a:r>
            <a:r>
              <a:rPr lang="en"/>
              <a:t> </a:t>
            </a:r>
            <a:r>
              <a:rPr lang="en" u="sng"/>
              <a:t>ROOM_ID</a:t>
            </a:r>
            <a:r>
              <a:rPr lang="en"/>
              <a:t>)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Relationship Design #2</a:t>
            </a:r>
            <a:endParaRPr/>
          </a:p>
        </p:txBody>
      </p:sp>
      <p:sp>
        <p:nvSpPr>
          <p:cNvPr id="125" name="Google Shape;125;p22"/>
          <p:cNvSpPr/>
          <p:nvPr/>
        </p:nvSpPr>
        <p:spPr>
          <a:xfrm>
            <a:off x="620500" y="1592975"/>
            <a:ext cx="1644600" cy="463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Course</a:t>
            </a:r>
            <a:endParaRPr/>
          </a:p>
        </p:txBody>
      </p:sp>
      <p:sp>
        <p:nvSpPr>
          <p:cNvPr id="126" name="Google Shape;126;p22"/>
          <p:cNvSpPr/>
          <p:nvPr/>
        </p:nvSpPr>
        <p:spPr>
          <a:xfrm>
            <a:off x="620500" y="2897250"/>
            <a:ext cx="1644600" cy="463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Section</a:t>
            </a:r>
            <a:endParaRPr/>
          </a:p>
        </p:txBody>
      </p:sp>
      <p:sp>
        <p:nvSpPr>
          <p:cNvPr id="127" name="Google Shape;127;p22"/>
          <p:cNvSpPr/>
          <p:nvPr/>
        </p:nvSpPr>
        <p:spPr>
          <a:xfrm>
            <a:off x="620500" y="4201525"/>
            <a:ext cx="1644600" cy="463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Teacher</a:t>
            </a:r>
            <a:endParaRPr/>
          </a:p>
        </p:txBody>
      </p:sp>
      <p:sp>
        <p:nvSpPr>
          <p:cNvPr id="128" name="Google Shape;128;p22"/>
          <p:cNvSpPr/>
          <p:nvPr/>
        </p:nvSpPr>
        <p:spPr>
          <a:xfrm>
            <a:off x="3359675" y="4191900"/>
            <a:ext cx="1644600" cy="463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Student</a:t>
            </a:r>
            <a:endParaRPr/>
          </a:p>
        </p:txBody>
      </p:sp>
      <p:sp>
        <p:nvSpPr>
          <p:cNvPr id="129" name="Google Shape;129;p22"/>
          <p:cNvSpPr/>
          <p:nvPr/>
        </p:nvSpPr>
        <p:spPr>
          <a:xfrm>
            <a:off x="6022275" y="2224425"/>
            <a:ext cx="1644600" cy="463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</a:t>
            </a:r>
            <a:endParaRPr/>
          </a:p>
        </p:txBody>
      </p:sp>
      <p:sp>
        <p:nvSpPr>
          <p:cNvPr id="130" name="Google Shape;130;p22"/>
          <p:cNvSpPr/>
          <p:nvPr/>
        </p:nvSpPr>
        <p:spPr>
          <a:xfrm>
            <a:off x="3360800" y="2897250"/>
            <a:ext cx="1644600" cy="463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Enrolment</a:t>
            </a:r>
            <a:endParaRPr/>
          </a:p>
        </p:txBody>
      </p:sp>
      <p:sp>
        <p:nvSpPr>
          <p:cNvPr id="131" name="Google Shape;131;p22"/>
          <p:cNvSpPr/>
          <p:nvPr/>
        </p:nvSpPr>
        <p:spPr>
          <a:xfrm>
            <a:off x="6022275" y="3430800"/>
            <a:ext cx="1644600" cy="463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Delete</a:t>
            </a:r>
            <a:endParaRPr/>
          </a:p>
        </p:txBody>
      </p:sp>
      <p:cxnSp>
        <p:nvCxnSpPr>
          <p:cNvPr id="132" name="Google Shape;132;p22"/>
          <p:cNvCxnSpPr>
            <a:stCxn id="125" idx="2"/>
            <a:endCxn id="126" idx="0"/>
          </p:cNvCxnSpPr>
          <p:nvPr/>
        </p:nvCxnSpPr>
        <p:spPr>
          <a:xfrm>
            <a:off x="1442800" y="2056475"/>
            <a:ext cx="0" cy="840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3" name="Google Shape;133;p22"/>
          <p:cNvCxnSpPr>
            <a:endCxn id="127" idx="0"/>
          </p:cNvCxnSpPr>
          <p:nvPr/>
        </p:nvCxnSpPr>
        <p:spPr>
          <a:xfrm>
            <a:off x="1442800" y="3360625"/>
            <a:ext cx="0" cy="840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4" name="Google Shape;134;p22"/>
          <p:cNvCxnSpPr/>
          <p:nvPr/>
        </p:nvCxnSpPr>
        <p:spPr>
          <a:xfrm>
            <a:off x="2265100" y="3281400"/>
            <a:ext cx="109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5" name="Google Shape;135;p22"/>
          <p:cNvCxnSpPr>
            <a:stCxn id="130" idx="2"/>
            <a:endCxn id="128" idx="0"/>
          </p:cNvCxnSpPr>
          <p:nvPr/>
        </p:nvCxnSpPr>
        <p:spPr>
          <a:xfrm flipH="1">
            <a:off x="4181900" y="3360750"/>
            <a:ext cx="1200" cy="831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6" name="Google Shape;136;p22"/>
          <p:cNvCxnSpPr>
            <a:stCxn id="130" idx="0"/>
            <a:endCxn id="129" idx="1"/>
          </p:cNvCxnSpPr>
          <p:nvPr/>
        </p:nvCxnSpPr>
        <p:spPr>
          <a:xfrm rot="-5400000">
            <a:off x="4882250" y="1757100"/>
            <a:ext cx="441000" cy="18393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7" name="Google Shape;137;p22"/>
          <p:cNvCxnSpPr>
            <a:stCxn id="130" idx="3"/>
            <a:endCxn id="131" idx="1"/>
          </p:cNvCxnSpPr>
          <p:nvPr/>
        </p:nvCxnSpPr>
        <p:spPr>
          <a:xfrm>
            <a:off x="5005400" y="3129000"/>
            <a:ext cx="1017000" cy="533700"/>
          </a:xfrm>
          <a:prstGeom prst="bentConnector3">
            <a:avLst>
              <a:gd fmla="val 49994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8" name="Google Shape;138;p22"/>
          <p:cNvCxnSpPr>
            <a:stCxn id="129" idx="3"/>
            <a:endCxn id="128" idx="3"/>
          </p:cNvCxnSpPr>
          <p:nvPr/>
        </p:nvCxnSpPr>
        <p:spPr>
          <a:xfrm flipH="1">
            <a:off x="5004375" y="2456175"/>
            <a:ext cx="2662500" cy="1967400"/>
          </a:xfrm>
          <a:prstGeom prst="bentConnector3">
            <a:avLst>
              <a:gd fmla="val -8944" name="adj1"/>
            </a:avLst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39" name="Google Shape;139;p22"/>
          <p:cNvCxnSpPr>
            <a:stCxn id="131" idx="2"/>
            <a:endCxn id="128" idx="2"/>
          </p:cNvCxnSpPr>
          <p:nvPr/>
        </p:nvCxnSpPr>
        <p:spPr>
          <a:xfrm rot="5400000">
            <a:off x="5132775" y="2943600"/>
            <a:ext cx="761100" cy="2662500"/>
          </a:xfrm>
          <a:prstGeom prst="bentConnector3">
            <a:avLst>
              <a:gd fmla="val 131287" name="adj1"/>
            </a:avLst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40" name="Google Shape;140;p22"/>
          <p:cNvSpPr/>
          <p:nvPr/>
        </p:nvSpPr>
        <p:spPr>
          <a:xfrm>
            <a:off x="3026875" y="1592975"/>
            <a:ext cx="1644600" cy="463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Slot_Section</a:t>
            </a:r>
            <a:endParaRPr/>
          </a:p>
        </p:txBody>
      </p:sp>
      <p:sp>
        <p:nvSpPr>
          <p:cNvPr id="141" name="Google Shape;141;p22"/>
          <p:cNvSpPr/>
          <p:nvPr/>
        </p:nvSpPr>
        <p:spPr>
          <a:xfrm>
            <a:off x="5315000" y="1592975"/>
            <a:ext cx="1644600" cy="463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Slot</a:t>
            </a:r>
            <a:endParaRPr/>
          </a:p>
        </p:txBody>
      </p:sp>
      <p:cxnSp>
        <p:nvCxnSpPr>
          <p:cNvPr id="142" name="Google Shape;142;p22"/>
          <p:cNvCxnSpPr>
            <a:stCxn id="140" idx="3"/>
            <a:endCxn id="141" idx="1"/>
          </p:cNvCxnSpPr>
          <p:nvPr/>
        </p:nvCxnSpPr>
        <p:spPr>
          <a:xfrm>
            <a:off x="4671475" y="1824725"/>
            <a:ext cx="643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3" name="Google Shape;143;p22"/>
          <p:cNvSpPr/>
          <p:nvPr/>
        </p:nvSpPr>
        <p:spPr>
          <a:xfrm>
            <a:off x="1351300" y="2127375"/>
            <a:ext cx="183000" cy="9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22"/>
          <p:cNvSpPr/>
          <p:nvPr/>
        </p:nvSpPr>
        <p:spPr>
          <a:xfrm rot="5400000">
            <a:off x="4988875" y="3124500"/>
            <a:ext cx="183000" cy="9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22"/>
          <p:cNvSpPr/>
          <p:nvPr/>
        </p:nvSpPr>
        <p:spPr>
          <a:xfrm rot="5400000">
            <a:off x="5159375" y="1820225"/>
            <a:ext cx="183000" cy="9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22"/>
          <p:cNvSpPr/>
          <p:nvPr/>
        </p:nvSpPr>
        <p:spPr>
          <a:xfrm>
            <a:off x="1351300" y="4121625"/>
            <a:ext cx="183000" cy="9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22"/>
          <p:cNvSpPr/>
          <p:nvPr/>
        </p:nvSpPr>
        <p:spPr>
          <a:xfrm>
            <a:off x="4091600" y="4121625"/>
            <a:ext cx="183000" cy="9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22"/>
          <p:cNvSpPr/>
          <p:nvPr/>
        </p:nvSpPr>
        <p:spPr>
          <a:xfrm>
            <a:off x="5834063" y="3622050"/>
            <a:ext cx="81000" cy="81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22"/>
          <p:cNvSpPr/>
          <p:nvPr/>
        </p:nvSpPr>
        <p:spPr>
          <a:xfrm>
            <a:off x="5808175" y="2415513"/>
            <a:ext cx="81000" cy="81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22"/>
          <p:cNvSpPr/>
          <p:nvPr/>
        </p:nvSpPr>
        <p:spPr>
          <a:xfrm rot="5400000">
            <a:off x="5068350" y="3124500"/>
            <a:ext cx="183000" cy="9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2"/>
          <p:cNvSpPr/>
          <p:nvPr/>
        </p:nvSpPr>
        <p:spPr>
          <a:xfrm rot="5400000">
            <a:off x="5090750" y="1820213"/>
            <a:ext cx="183000" cy="9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22"/>
          <p:cNvSpPr/>
          <p:nvPr/>
        </p:nvSpPr>
        <p:spPr>
          <a:xfrm>
            <a:off x="4091600" y="2817950"/>
            <a:ext cx="183000" cy="9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22"/>
          <p:cNvSpPr/>
          <p:nvPr/>
        </p:nvSpPr>
        <p:spPr>
          <a:xfrm>
            <a:off x="4091600" y="2738650"/>
            <a:ext cx="183000" cy="9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22"/>
          <p:cNvSpPr/>
          <p:nvPr/>
        </p:nvSpPr>
        <p:spPr>
          <a:xfrm>
            <a:off x="1351300" y="4041725"/>
            <a:ext cx="183000" cy="9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22"/>
          <p:cNvSpPr/>
          <p:nvPr/>
        </p:nvSpPr>
        <p:spPr>
          <a:xfrm>
            <a:off x="1351300" y="3471663"/>
            <a:ext cx="183000" cy="9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22"/>
          <p:cNvSpPr/>
          <p:nvPr/>
        </p:nvSpPr>
        <p:spPr>
          <a:xfrm>
            <a:off x="1351300" y="2782100"/>
            <a:ext cx="183000" cy="9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22"/>
          <p:cNvSpPr/>
          <p:nvPr/>
        </p:nvSpPr>
        <p:spPr>
          <a:xfrm>
            <a:off x="1351300" y="2207275"/>
            <a:ext cx="183000" cy="9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58" name="Google Shape;158;p22"/>
          <p:cNvCxnSpPr>
            <a:stCxn id="126" idx="3"/>
            <a:endCxn id="140" idx="1"/>
          </p:cNvCxnSpPr>
          <p:nvPr/>
        </p:nvCxnSpPr>
        <p:spPr>
          <a:xfrm flipH="1" rot="10800000">
            <a:off x="2265100" y="1824600"/>
            <a:ext cx="761700" cy="1304400"/>
          </a:xfrm>
          <a:prstGeom prst="bentConnector3">
            <a:avLst>
              <a:gd fmla="val 50005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9" name="Google Shape;159;p22"/>
          <p:cNvSpPr/>
          <p:nvPr/>
        </p:nvSpPr>
        <p:spPr>
          <a:xfrm rot="5400000">
            <a:off x="2245675" y="3276900"/>
            <a:ext cx="183000" cy="9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22"/>
          <p:cNvSpPr/>
          <p:nvPr/>
        </p:nvSpPr>
        <p:spPr>
          <a:xfrm rot="5400000">
            <a:off x="2280200" y="3095750"/>
            <a:ext cx="110700" cy="5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22"/>
          <p:cNvSpPr/>
          <p:nvPr/>
        </p:nvSpPr>
        <p:spPr>
          <a:xfrm rot="5400000">
            <a:off x="2340150" y="3092900"/>
            <a:ext cx="109800" cy="10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22"/>
          <p:cNvSpPr/>
          <p:nvPr/>
        </p:nvSpPr>
        <p:spPr>
          <a:xfrm rot="5400000">
            <a:off x="2302825" y="3276900"/>
            <a:ext cx="183000" cy="9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22"/>
          <p:cNvSpPr/>
          <p:nvPr/>
        </p:nvSpPr>
        <p:spPr>
          <a:xfrm rot="5400000">
            <a:off x="3162475" y="3276900"/>
            <a:ext cx="183000" cy="9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22"/>
          <p:cNvSpPr/>
          <p:nvPr/>
        </p:nvSpPr>
        <p:spPr>
          <a:xfrm rot="5400000">
            <a:off x="2814825" y="1820225"/>
            <a:ext cx="183000" cy="9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22"/>
          <p:cNvSpPr/>
          <p:nvPr/>
        </p:nvSpPr>
        <p:spPr>
          <a:xfrm rot="5400000">
            <a:off x="4695763" y="1820225"/>
            <a:ext cx="183000" cy="9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22"/>
          <p:cNvSpPr/>
          <p:nvPr/>
        </p:nvSpPr>
        <p:spPr>
          <a:xfrm rot="5400000">
            <a:off x="4655875" y="1769375"/>
            <a:ext cx="141900" cy="110700"/>
          </a:xfrm>
          <a:prstGeom prst="triangle">
            <a:avLst>
              <a:gd fmla="val 50000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22"/>
          <p:cNvSpPr/>
          <p:nvPr/>
        </p:nvSpPr>
        <p:spPr>
          <a:xfrm flipH="1" rot="-5400000">
            <a:off x="2897900" y="1769375"/>
            <a:ext cx="141900" cy="110700"/>
          </a:xfrm>
          <a:prstGeom prst="triangle">
            <a:avLst>
              <a:gd fmla="val 50000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22"/>
          <p:cNvSpPr/>
          <p:nvPr/>
        </p:nvSpPr>
        <p:spPr>
          <a:xfrm flipH="1">
            <a:off x="1371850" y="2788825"/>
            <a:ext cx="141900" cy="110700"/>
          </a:xfrm>
          <a:prstGeom prst="triangle">
            <a:avLst>
              <a:gd fmla="val 50000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22"/>
          <p:cNvSpPr/>
          <p:nvPr/>
        </p:nvSpPr>
        <p:spPr>
          <a:xfrm rot="10800000">
            <a:off x="1371850" y="3363238"/>
            <a:ext cx="141900" cy="110700"/>
          </a:xfrm>
          <a:prstGeom prst="triangle">
            <a:avLst>
              <a:gd fmla="val 50000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22"/>
          <p:cNvSpPr/>
          <p:nvPr/>
        </p:nvSpPr>
        <p:spPr>
          <a:xfrm rot="10800000">
            <a:off x="4111025" y="3359463"/>
            <a:ext cx="141900" cy="110700"/>
          </a:xfrm>
          <a:prstGeom prst="triangle">
            <a:avLst>
              <a:gd fmla="val 50000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22"/>
          <p:cNvSpPr/>
          <p:nvPr/>
        </p:nvSpPr>
        <p:spPr>
          <a:xfrm flipH="1" rot="-5400000">
            <a:off x="3234500" y="3226050"/>
            <a:ext cx="141900" cy="110700"/>
          </a:xfrm>
          <a:prstGeom prst="triangle">
            <a:avLst>
              <a:gd fmla="val 50000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22"/>
          <p:cNvSpPr/>
          <p:nvPr/>
        </p:nvSpPr>
        <p:spPr>
          <a:xfrm flipH="1" rot="-5400000">
            <a:off x="5892625" y="2400663"/>
            <a:ext cx="141900" cy="110700"/>
          </a:xfrm>
          <a:prstGeom prst="triangle">
            <a:avLst>
              <a:gd fmla="val 50000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22"/>
          <p:cNvSpPr/>
          <p:nvPr/>
        </p:nvSpPr>
        <p:spPr>
          <a:xfrm flipH="1" rot="-5400000">
            <a:off x="5896100" y="3607200"/>
            <a:ext cx="141900" cy="110700"/>
          </a:xfrm>
          <a:prstGeom prst="triangle">
            <a:avLst>
              <a:gd fmla="val 50000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22"/>
          <p:cNvSpPr/>
          <p:nvPr/>
        </p:nvSpPr>
        <p:spPr>
          <a:xfrm>
            <a:off x="4142600" y="3468925"/>
            <a:ext cx="81000" cy="81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22"/>
          <p:cNvSpPr/>
          <p:nvPr/>
        </p:nvSpPr>
        <p:spPr>
          <a:xfrm>
            <a:off x="4091600" y="4035900"/>
            <a:ext cx="183000" cy="9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Master Data #2</a:t>
            </a:r>
            <a:endParaRPr/>
          </a:p>
        </p:txBody>
      </p:sp>
      <p:sp>
        <p:nvSpPr>
          <p:cNvPr id="181" name="Google Shape;181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Course (</a:t>
            </a:r>
            <a:r>
              <a:rPr lang="en" u="sng"/>
              <a:t>Course ID</a:t>
            </a:r>
            <a:r>
              <a:rPr lang="en"/>
              <a:t>, Course Title, Credit)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Section (</a:t>
            </a:r>
            <a:r>
              <a:rPr lang="en" u="sng"/>
              <a:t>Course ID</a:t>
            </a:r>
            <a:r>
              <a:rPr lang="en"/>
              <a:t>, </a:t>
            </a:r>
            <a:r>
              <a:rPr lang="en" u="sng"/>
              <a:t>Section</a:t>
            </a:r>
            <a:r>
              <a:rPr lang="en"/>
              <a:t>, Teacher ID, Seat, </a:t>
            </a:r>
            <a:r>
              <a:rPr lang="en" u="sng"/>
              <a:t>Semester</a:t>
            </a:r>
            <a:r>
              <a:rPr lang="en"/>
              <a:t>, </a:t>
            </a:r>
            <a:r>
              <a:rPr lang="en" u="sng"/>
              <a:t>Year</a:t>
            </a:r>
            <a:r>
              <a:rPr lang="en"/>
              <a:t>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Teacher (</a:t>
            </a:r>
            <a:r>
              <a:rPr lang="en" u="sng"/>
              <a:t>Teacher ID</a:t>
            </a:r>
            <a:r>
              <a:rPr lang="en"/>
              <a:t>, FName, LName, Office)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Student  (</a:t>
            </a:r>
            <a:r>
              <a:rPr lang="en" u="sng"/>
              <a:t>Student ID</a:t>
            </a:r>
            <a:r>
              <a:rPr lang="en"/>
              <a:t>, FName, LName, Faculty, Major)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Slot (</a:t>
            </a:r>
            <a:r>
              <a:rPr lang="en" u="sng"/>
              <a:t>Slot_ID</a:t>
            </a:r>
            <a:r>
              <a:rPr lang="en"/>
              <a:t>, Day, Time)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S</a:t>
            </a:r>
            <a:r>
              <a:rPr lang="en"/>
              <a:t>l</a:t>
            </a:r>
            <a:r>
              <a:rPr lang="en"/>
              <a:t>ot _Section (</a:t>
            </a:r>
            <a:r>
              <a:rPr lang="en" u="sng"/>
              <a:t>Course_ID</a:t>
            </a:r>
            <a:r>
              <a:rPr lang="en"/>
              <a:t>, </a:t>
            </a:r>
            <a:r>
              <a:rPr lang="en" u="sng"/>
              <a:t>Section</a:t>
            </a:r>
            <a:r>
              <a:rPr lang="en"/>
              <a:t>, </a:t>
            </a:r>
            <a:r>
              <a:rPr lang="en" u="sng"/>
              <a:t>Semester</a:t>
            </a:r>
            <a:r>
              <a:rPr lang="en"/>
              <a:t>, </a:t>
            </a:r>
            <a:r>
              <a:rPr lang="en" u="sng"/>
              <a:t>Year</a:t>
            </a:r>
            <a:r>
              <a:rPr lang="en"/>
              <a:t>, </a:t>
            </a:r>
            <a:r>
              <a:rPr lang="en" u="sng"/>
              <a:t>Slot_ID</a:t>
            </a:r>
            <a:r>
              <a:rPr lang="en"/>
              <a:t>, Room)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 diagram</a:t>
            </a:r>
            <a:endParaRPr/>
          </a:p>
        </p:txBody>
      </p:sp>
      <p:sp>
        <p:nvSpPr>
          <p:cNvPr id="187" name="Google Shape;187;p24"/>
          <p:cNvSpPr/>
          <p:nvPr/>
        </p:nvSpPr>
        <p:spPr>
          <a:xfrm>
            <a:off x="904875" y="1457325"/>
            <a:ext cx="2752800" cy="34671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24"/>
          <p:cNvSpPr/>
          <p:nvPr/>
        </p:nvSpPr>
        <p:spPr>
          <a:xfrm>
            <a:off x="1323975" y="1476375"/>
            <a:ext cx="20289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Course</a:t>
            </a:r>
            <a:endParaRPr sz="2000"/>
          </a:p>
        </p:txBody>
      </p:sp>
      <p:sp>
        <p:nvSpPr>
          <p:cNvPr id="189" name="Google Shape;189;p24"/>
          <p:cNvSpPr/>
          <p:nvPr/>
        </p:nvSpPr>
        <p:spPr>
          <a:xfrm>
            <a:off x="904875" y="2228775"/>
            <a:ext cx="2752800" cy="10764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Code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Title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Credits</a:t>
            </a:r>
            <a:endParaRPr/>
          </a:p>
        </p:txBody>
      </p:sp>
      <p:sp>
        <p:nvSpPr>
          <p:cNvPr id="190" name="Google Shape;190;p24"/>
          <p:cNvSpPr/>
          <p:nvPr/>
        </p:nvSpPr>
        <p:spPr>
          <a:xfrm>
            <a:off x="904875" y="3305175"/>
            <a:ext cx="2752800" cy="12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+"/>
            </a:pPr>
            <a:r>
              <a:rPr lang="en"/>
              <a:t>section_list():section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24"/>
          <p:cNvSpPr/>
          <p:nvPr/>
        </p:nvSpPr>
        <p:spPr>
          <a:xfrm>
            <a:off x="5800725" y="1476375"/>
            <a:ext cx="2752800" cy="34671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24"/>
          <p:cNvSpPr/>
          <p:nvPr/>
        </p:nvSpPr>
        <p:spPr>
          <a:xfrm>
            <a:off x="6219825" y="1495425"/>
            <a:ext cx="20289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Section</a:t>
            </a:r>
            <a:endParaRPr sz="2000"/>
          </a:p>
        </p:txBody>
      </p:sp>
      <p:sp>
        <p:nvSpPr>
          <p:cNvPr id="193" name="Google Shape;193;p24"/>
          <p:cNvSpPr/>
          <p:nvPr/>
        </p:nvSpPr>
        <p:spPr>
          <a:xfrm>
            <a:off x="5800725" y="2247825"/>
            <a:ext cx="2752800" cy="16479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Code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Section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Semester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Year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Instcode</a:t>
            </a:r>
            <a:endParaRPr/>
          </a:p>
        </p:txBody>
      </p:sp>
      <p:sp>
        <p:nvSpPr>
          <p:cNvPr id="194" name="Google Shape;194;p24"/>
          <p:cNvSpPr/>
          <p:nvPr/>
        </p:nvSpPr>
        <p:spPr>
          <a:xfrm>
            <a:off x="5800725" y="3895725"/>
            <a:ext cx="2752800" cy="9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+"/>
            </a:pPr>
            <a:r>
              <a:rPr lang="en"/>
              <a:t>getStudents():students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+"/>
            </a:pPr>
            <a:r>
              <a:rPr lang="en"/>
              <a:t>getSlots():slots</a:t>
            </a:r>
            <a:endParaRPr/>
          </a:p>
        </p:txBody>
      </p:sp>
      <p:cxnSp>
        <p:nvCxnSpPr>
          <p:cNvPr id="195" name="Google Shape;195;p24"/>
          <p:cNvCxnSpPr>
            <a:stCxn id="190" idx="3"/>
            <a:endCxn id="193" idx="1"/>
          </p:cNvCxnSpPr>
          <p:nvPr/>
        </p:nvCxnSpPr>
        <p:spPr>
          <a:xfrm flipH="1" rot="10800000">
            <a:off x="3657675" y="3071775"/>
            <a:ext cx="2143200" cy="852600"/>
          </a:xfrm>
          <a:prstGeom prst="bentConnector3">
            <a:avLst>
              <a:gd fmla="val 49997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Challenge</a:t>
            </a:r>
            <a:r>
              <a:rPr lang="en"/>
              <a:t> </a:t>
            </a:r>
            <a:endParaRPr/>
          </a:p>
        </p:txBody>
      </p:sp>
      <p:sp>
        <p:nvSpPr>
          <p:cNvPr id="201" name="Google Shape;201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Rewrite #10 with a class diagram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